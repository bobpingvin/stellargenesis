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28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640080"/>
            <a:ext cx="9994392" cy="5577840"/>
          </a:xfrm>
          <a:prstGeom prst="roundRect">
            <a:avLst>
              <a:gd name="adj" fmla="val 2459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5156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ЛАБОРАТОРИЯ ВЫЧИСЛИТЕЛЬНОЙ АСТРОФИЗИКИ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Интерактивный веб-симулятор релятивистской гравитации,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гравитационного линзирования и звездной эволюции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063240"/>
            <a:ext cx="761695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3337560"/>
            <a:ext cx="438912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47472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СПЕЦИАЛЬНОСТЬ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09.02.07 Информационные системы и </a:t>
            </a:r>
            <a:r>
              <a:rPr lang="en-US" sz="1100" b="1" dirty="0" err="1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программирование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3337560"/>
            <a:ext cx="4389120" cy="16002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47472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РАЗРАБОТЧИК И РЕЛИЗ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М., студент группы ИСП-43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Официальный релиз: v1.0.0 (MVP Release) • Октябрь 2026 г.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624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24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626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5.8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28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WebGL 2.0 GLSL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630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632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632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 100% PASS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363456" y="51663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License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ПРЕДПОСЫЛКИ И АКТУАЛЬНОСТЬ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и актуальность разработки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2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ВЫЯВЛЕННЫЕ ПРОБЛЕМЫ И БАРЬЕРЫ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Абстрактность астрофизической теории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Искривление пространства-времени, предел Чандрасекара, гравитационное линзирование крайне сложно воспринимаются студентами по статичным плоским формулам в учебниках.
</a:t>
            </a: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Дефицит интерактивных образовательных сред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Большинство доступных веб-демонстраций сводятся к упрощенной 2D-ньютоновской гравитации без релятивизма, эффекта Доплера и термодинамики звезд.
</a:t>
            </a: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Сложность установки научных пакетов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Профессиональные симуляторы (REBOUND, GalSim) требуют навыков программирования на C++/Python и долгой сборки окружения, что недоступно на обычной лекции.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РЕШЕНИЕ: STELLARGENESIS v1.0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Запуск в браузере в один клик (Zero Install)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требует серверов, компиляторов и установки плагинов. Полная кроссплатформенность: работает на десктопах, ноутбуках и мобильных устройствах.
</a:t>
            </a: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Научная строгость и реалистичные законы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Симплектический интегратор Верле гарантирует сохранение энергии и импульса. Моделируются реальные пределы Оппенгеймера-Волкова, предел Роша и термоядерный нуклеосинтез.
</a:t>
            </a: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Высокая производительность (GPU &amp; Canvas)
</a:t>
            </a: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Стабильные 60 FPS благодаря батчингу вызовов Canvas 2D и аппаратному raymarching-шейдеру линзирования на WebGL 2.0 GLSL.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ЦЕЛЕПОЛАГАНИЕ ПРОЕКТА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и ключевые инженерные задачи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3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725912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0177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 ЦЕЛЬ ПРОЕКТА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Разработка доступного отечественного интерактивного программного комплекса для высокоточного численного моделирования N-body гравитации, звездной эволюции и визуализации релятивистских явлений в веб-среде с открытым исходным кодом.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26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Математическое и физическое ядро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Реализация симплектического N-body интегратора Velocity Verlet со смягчением Пламмера, регуляризацией сингулярностей и законами сохранения импульса.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5352" y="27889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926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19672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Моделирование звездной эволюции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3474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Построение термодинамического жизненного цикла звезд: баланс гидростатики, горение H-&gt;He-&gt;C-&gt;Fe, ветвление коллапса в белые карлики, пульсары и черные дыры.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634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892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WebGL и релятивистские эффекты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Разработка экранного raymarching-шейдера гравитационного линзирования Эйнштейна, формул эффекта Доплера/биминга и приливной спагеттификации (TDE).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45352" y="45262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46634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ЗАДАЧА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19672" y="4892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Тестовый контур и документирование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9672" y="5212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Внедрение автоматизированного набора из 38 unit-тестов Vitest, аудит качества по ISO/IEC 25010 и создание исчерпывающей эксплуатационной документации.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ПОЛЬЗОВАТЕЛЬСКИЕ СЦЕНАРИИ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Целевая аудитория и роли пользователей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4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392424" cy="4572000"/>
          </a:xfrm>
          <a:prstGeom prst="roundRect">
            <a:avLst>
              <a:gd name="adj" fmla="val 2695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УЧЕБНАЯ ЛАБОРАТОРИЯ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Студент-исследователь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2377440"/>
            <a:ext cx="2935224" cy="18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14600"/>
            <a:ext cx="29352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Потребности роли: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Проведение виртуальных лабораторных работ по небесной механике, проверка законов Кеплера, исследование устойчивости орбит.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Типовой сценарий: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Загружает пресет «Солнечная система», изменяет массу Солнца, замеряет периоды обращения планет и проверяет соотношение T²/a³ = const.
</a:t>
            </a: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Практическая ценность: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Наглядное понимание формул без рутинных расчетов вручную.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98264" y="1463040"/>
            <a:ext cx="3392424" cy="4572000"/>
          </a:xfrm>
          <a:prstGeom prst="roundRect">
            <a:avLst>
              <a:gd name="adj" fmla="val 2695"/>
            </a:avLst>
          </a:prstGeom>
          <a:solidFill>
            <a:srgbClr val="111827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691640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ДЕМОНСТРАЦИИ НА ЛЕКЦИЯХ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26864" y="196596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Преподаватель / Лектор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2935224" cy="18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2514600"/>
            <a:ext cx="29352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Потребности роли: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Интерактивное сопровождение лекций по астрономии и физике, вывод на мультимедийный проектор в аудитории.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Типовой сценарий: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Демонстрирует эффект Доплера на тесной двойной звездной системе, затем ускоряет эволюцию и показывает коллапс ядра в горизонт событий.
</a:t>
            </a: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Практическая ценность: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Высокая вовлеченность студентов и визуализация невидимых явлений.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5008" y="1463040"/>
            <a:ext cx="3392424" cy="4572000"/>
          </a:xfrm>
          <a:prstGeom prst="roundRect">
            <a:avLst>
              <a:gd name="adj" fmla="val 2695"/>
            </a:avLst>
          </a:prstGeom>
          <a:solidFill>
            <a:srgbClr val="111827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691640"/>
            <a:ext cx="2935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РЕЖИМ SANDBOX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93608" y="1965960"/>
            <a:ext cx="2935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Научный энтузиаст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93608" y="2377440"/>
            <a:ext cx="2935224" cy="18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8293608" y="2514600"/>
            <a:ext cx="29352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Потребности роли: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Свободное творческое конструирование экзотических гравитационных систем и астрофизических симуляций.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Типовой сценарий: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Спавнит сверхмассивную черную дыру, направляет на нее звезду и наблюдает процесс приливного разрушения с образованием аккреционного диска.
</a:t>
            </a: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Практическая ценность: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Полная свобода экспериментов с сохранением физической строгости.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ВОЗМОЖНОСТИ СИСТЕМЫ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 релизной версии v1.0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5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Симплектический N-body интегратор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 Velocity Verlet со смягчением Пламмера (ε=8.0), строгим сохранением энергии/импульса на длительных интервалах и релятивистским лимитом скорости v ≤ c.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Звездный нуклеосинтез и термодинамика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73952" y="190195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Гидростатический баланс Pграв ↔ Pгаз + Pрад, последовательное горение H → He → C → Fe, тепловой перегрев ядра и радиальное расширение в красный гигант.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Приливная спагеттификация (TDE)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345643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Расчет предела Роша, приливный эллипсоид деформации, гидродинамический стриппинг массы с аккрецией 85% в сингулярность и светящиеся плазменные струи.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45352" y="3017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Релятивистский эффект Доплера &amp; Биминг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3952" y="345643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Спектральный сдвиг z = √((1-β)/(1+β)) - 1: синее смещение приближающихся тел, красное смещение удаляющихся и релятивистское усиление светимости.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WebGL инспектор сингулярностей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Аналитический экранный Raymarching шейдер линзирования Эйнштейна (GLSL), визуализация фотонной сферы (1.5 rs), дисков аккреции и кастомные текстуры планет.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45352" y="4572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Процедурный синтезатор Web Audio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73952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Математическая генерация радиоимпульсов пульсаров и басового гула искривления пространства-времени без тяжелых аудиофайлов, защита браузерной Autoplay-политики.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ИНТЕРФЕЙС И НАВИГАЦИЯ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работы системы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6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КЛЮЧЕВЫЕ КОМПОНЕНТЫ ИНТЕРФЕЙСА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Интерактивное полотно Canvas 2D (60 FPS)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Отрисовка сотен небесных тел с динамическими трейлами орбит и деформируемой сеткой искривления пространства-времени.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Каталог сценариев (TopNavigation)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Мгновенная загрузка пресетов: «Солнечная система», «Тесная двойная звезда», «Пульсар», «Сверхмассивная черная дыра».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Док быстрого доступа (QuickDock)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паузой, слайдер масштаба времени 0.1x–5.0x, тумблеры отображения векторов скорости и трейлов.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Боковой инспектор (StarInspector)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Карточка выбранного объекта: температура ядра, масса, спектральный класс, круговая диаграмма нуклеосинтеза и кнопка 3D-обзора.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РАБОЧЕЕ ОКНО СИМУЛЯЦИИ И ТЕРМИНАЛА</a:t>
            </a:r>
            <a:endParaRPr lang="en-US" sz="1250" dirty="0"/>
          </a:p>
        </p:txBody>
      </p:sp>
      <p:pic>
        <p:nvPicPr>
          <p:cNvPr id="14" name="Image 0" descr="/app/applet/docs/screenshots/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57400"/>
            <a:ext cx="4663440" cy="2798064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19672" y="4983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5074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FPS • 0% сетевой задержки • Мгновенный отклик 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Адаптивный дизайн: от смартфонов (320px) до 4K мониторов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ТЕХНОЛОГИЧЕСКИЙ ФУНДАМЕНТ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 системы и стек технологий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7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Уровень интерфейса (Presentation Layer)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19: современная компонентная модель, кастомные хуки;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TypeScript 5.8: строгая статическая типизация структур данных;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v4: утилитарная стилизация, адаптивная тёмная тема;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Lucide React: консистентная векторная иконографика.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Графика и синтез звука (Rendering &amp; Audio)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192024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HTML5 Canvas 2D API: батчинг отрисовки сотен частиц и трейлов;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Three.js + WebGL 2.0 GLSL: кастомный raymarching гравилинзирования;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Audio API: процедурный синтез звуков без внешних аудиофайлов;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Responsive Viewport: матричная трансформация масштаба и панорамы.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Вычислительное ядро (Physics Engine)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29768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Интегратор Velocity Verlet: симплектический расчет сохранения энергии;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Plummer Softening (ε = 8.0): устранение деления на ноль;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Модель нуклеосинтеза: полиномиальные уравнения эволюции звезд;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Undo/Redo Engine: кольцевой буфер иммутабельных снимков состояния.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45352" y="384048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Сборка, Тестирование и CI/CD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429768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Vite 8.3: сверхбыстрая сборка продакшн-бандла за 730 мс;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Vitest 5.0 + v8: 38 автоматизированных unit-тестов (100% PASS);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Actions: автоматический CI-пайплайн проверки тестов и линтинга;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&amp; Nginx: контейнеризированное развертывание статики.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ПРОЕКТИРОВАНИЕ И СТРУКТУРА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Архитектурные диаграммы UML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8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ДИАГРАММА ПРЕЦЕДЕНТОВ (USE CASE)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Актор: Пользователь (Студент / Исследователь)
</a:t>
            </a: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Основные прецеденты клиентского ядра: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«Запустить N-body симуляцию» (Базовый сценарий)
• «Выбрать готовый пресет» (Отношение &lt;&lt;include&gt;&gt;)
• «Создать кастомное тело» (Задание вектора скорости мыши)
• «Инициировать коллапс звезды» (Отношение &lt;&lt;extend&gt;&gt;)
• «Открыть 3D инспектор линзирования» (Three.js модальное окно)
• «Откатить шаг симуляции (Undo)» (Восстановление снимка)
</a:t>
            </a: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Архитектурный принцип Edge Computing: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логики и расчетов прецедентов исполняются строго в браузере клиента с нулевой сетевой задержкой.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ДИАГРАММА КЛАССОВ И МОДУЛЕЙ ЯДРА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9672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Класс CelestialBody (Физический объект):
</a:t>
            </a: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id: string; mass: number; radius: number;
+ x, y: number; vx, vy: number;
+ composition: { H, He, C, Fe: number };
+ remnantType: "star" | "black_hole" | "pulsar" | ...;
+ tidalStretch: number; dopplerZ: number;
</a:t>
            </a: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Функциональный модуль PhysicsEngine:
</a:t>
            </a: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stepPhysics(bodies, dt, G, eps): CelestialBody[]
+ computeAccelerations(bodies, G, eps): void
+ handleTidalDisruptionEvent(body, attractor): void
+ handleInelasticBodyCollision(b1, b2): CelestialBody
+ computeDopplerFromVx(vx): number
</a:t>
            </a: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Иммутабельное управление состоянием HistoryEngine:
</a:t>
            </a: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pushSnapshot(bodies, particles): void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undo(): SimulationSnapshot | null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КАЧЕСТВА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Тестирование и надежность системы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9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РЕЗУЛЬТАТЫ АВТОМАТИЗИРОВАННОГО ТЕСТИРОВАНИЯ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Тестовый фреймворк: </a:t>
            </a: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 v5.0.3 (@vitest/coverage-v8)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Общий итог тестов: </a:t>
            </a: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unit-тестов в 5 сьютах (100% PASS за 1.6 с)
</a:t>
            </a: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Инструментальное покрытие функций ядра: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history.ts — 100% функций, 100% строк кода;
• celestialScales.ts — 100% функций расчета шкал;
• presets.ts — 100% сценариев инициализации;
• engine.ts — 90.5% математических методов ядра;
</a:t>
            </a: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Итоговое покрытие ядра: 72.0% (цель ≥ 70% достигнута)
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Инженерная надежность: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Плотность дефектов составляет 0.42 бага на 1000 строк кода (при допустимой норме ≤ 5.0). Протестированы инварианты сохранения энергии и импульса.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СВИДЕТЕЛЬСТВО: ТЕРМИНАЛЬНЫЙ ОТЧЕТ ПОКРЫТИЯ</a:t>
            </a:r>
            <a:endParaRPr lang="en-US" sz="1200" dirty="0"/>
          </a:p>
        </p:txBody>
      </p:sp>
      <p:pic>
        <p:nvPicPr>
          <p:cNvPr id="14" name="Image 0" descr="/app/applet/docs/screenshots/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57400"/>
            <a:ext cx="4663440" cy="2798064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19672" y="4983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5074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passed (38) • Duration: 1.64s • Zero regressions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математическая верификация интегратора Верле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СТАНДАРТЫ РАЗРАБОТКИ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Качество кода и рефакторинг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10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УСТРАНЕНИЕ НЕСООТВЕТСТВИЙ (ISO/IEC 25010)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NC-01: Ликвидация магических чисел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Вынесены константы ACCRETION_EFFICIENCY, SPEED_OF_LIGHT, CHANDRASEKHAR_LIMIT, MAX_SNAPSHOT_PARTICLES;
</a:t>
            </a:r>
            <a:r>
              <a:rPr lang="en-US" sz="105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NC-02 &amp; NC-03: Декомпозиция монолита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Функция computeAccelerations декомпозирована со 160 до 40 строк, вынесен хелпер computeSingleBodyTidalStretch;
</a:t>
            </a: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NC-04 &amp; NC-05: Стандартизация именования и TSDoc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публичных функций задокументированы TSDoc, устранены однобуквенные переменные (b -&gt; body);
</a:t>
            </a:r>
            <a:r>
              <a:rPr lang="en-US" sz="10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NC-06: Защита браузерного Web Audio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Вызов AudioContext.resume() обернут в безопасный .catch() для соблюдения строгой политики Autoplay.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АУДИТ КАЧЕСТВА GOOGLE LIGHTHOUSE</a:t>
            </a:r>
            <a:endParaRPr lang="en-US" sz="1200" dirty="0"/>
          </a:p>
        </p:txBody>
      </p:sp>
      <p:pic>
        <p:nvPicPr>
          <p:cNvPr id="14" name="Image 0" descr="/app/applet/docs/screenshots/light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57400"/>
            <a:ext cx="4663440" cy="2798064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19672" y="4983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5074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 98 • Accessibility: 96 • Best Practices: 100 • SEO: 100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Дублирование кода: 2.1% • Средняя длина функций: 28 строк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ВЕРСИЯМИ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версиями, Git и релиз v1.0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11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МОДЕЛЬ ВЕТВЛЕНИЯ GITHUB 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веток в репозитории: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 — стабильный релизный ствол проекта;
• feature/doppler-beaming-shaders — релятивистские шейдеры;
• feature/tidal-disruption-particles — модель TDE стриппинга;
• bugfix/audio-context-autoplay — исправление звука;
• release/v1.0 — стабилизация релизного билда.
</a:t>
            </a: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Разрешение конфликта слияния (Merge Conflict):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файле src/physics/engine.ts смоделирован и успешно разрешен конфликт при интеграции TDE и Доплера коммитом 5b7e31d без потери функционала.
</a:t>
            </a: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Официальный релиз:
</a:t>
            </a: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Опубликован аннотированный тег v1.0 и сформирован реестр изменений CHANGELOG.md по стандарту Keep a Changelog.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ТОПОЛОГИЯ ДЕРЕВА КОММИТОВ (GIT GRAPH)</a:t>
            </a:r>
            <a:endParaRPr lang="en-US" sz="1250" dirty="0"/>
          </a:p>
        </p:txBody>
      </p:sp>
      <p:pic>
        <p:nvPicPr>
          <p:cNvPr id="14" name="Image 0" descr="/app/applet/docs/screenshots/git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57400"/>
            <a:ext cx="4663440" cy="2624328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19672" y="48463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49377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Чистая история коммитов по стандарту Conventional Commits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feat: • fix: • docs: • test: • refactor: • release: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ЭКСПЛУАТАЦИОННЫЙ ПАКЕТ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Комплект проектной документации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12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Руководство пользователя (user-guide.md)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Подробное описание 9 физических подсистем, интерфейса, сценариев для 3 целевых ролей и исчерпывающий раздел часто задаваемых вопросов (FAQ).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Руководство по установке (install-guide.md)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73952" y="190195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Системные требования, пошаговые команды локального развертывания, параметры конфигураций, Docker-манифест и таблица Troubleshooting.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Фасад репозитория (README.md &amp; LICENSE)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345643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Актуальные статус-бейджи, быстрый старт, таблица технологического стека, ссылки на документацию и открытая лицензия MIT License 2026.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45352" y="3017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Журнал изменений (CHANGELOG.md)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3952" y="345643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Версионирование релизного выпуска v1.0.0 по стандарту Keep a Changelog с рубриками: «Добавлено», «Исправлено» и «Изменено».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Отчеты по качеству и Git (docs/*.md)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Чек-лист инспекции (inspection-checklist.md), отчет об инспекции (inspection-report.md), отчет о метриках (quality-metrics.md) и git-strategy.md.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45352" y="4572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709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Тестовый пакет и 11 UML-диаграмм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73952" y="501091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Тест-кейсы, тест-планы, протоколы тестирования, а также диаграммы прецедентов, классов, IDEF0 и DFD-потоков данных.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 РАЗРАБОТКИ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 проекта и ключевые достижения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13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ВЫПОЛНЕНИЕ ТЕХНИЧЕСКОГО ЗАДАНИЯ НА 100%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Научно достоверный астрофизический симулятор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Реализованы задачи N-тел, гидростатика нуклеосинтеза, приливная спагеттификация и релятивистский эффект Доплера.
</a:t>
            </a: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Уникальная веб-визуализация на WebGL 2.0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Аналитический шейдер линзирования Эйнштейна исполняется на GPU в реальном времени при стабильных 60 FPS.
</a:t>
            </a: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Высокая надежность и чистота кодовой базы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unit-тестов Vitest, 0 ошибок линтинга TypeScript, 100% покрытие TSDoc, аудит Google Lighthouse 98–100.
</a:t>
            </a: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Исчерпывающая эксплуатационная документация
</a:t>
            </a:r>
            <a:r>
              <a:rPr lang="en-US" sz="9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комплект из 15 ежедневных дневников, руководств пользователя и инсталляции, диаграмм и тестов.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СЕТЕВЫЕ ЗАМЕРЫ И СКОРОСТЬ ЗАГРУЗКИ</a:t>
            </a:r>
            <a:endParaRPr lang="en-US" sz="1200" dirty="0"/>
          </a:p>
        </p:txBody>
      </p:sp>
      <p:pic>
        <p:nvPicPr>
          <p:cNvPr id="14" name="Image 0" descr="/app/applet/docs/screenshots/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57400"/>
            <a:ext cx="4663440" cy="2798064"/>
          </a:xfrm>
          <a:prstGeom prst="ellipse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19672" y="4983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5074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Переданный размер бандла: 209 KB (gzip) • Лимит 500 KB с запасом 58%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Холодный старт приложения: менее 0.7 секунды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ДОРОЖНАЯ КАРТА ПРОЕКТА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94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Перспективы развития проекта (Фаза 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236208"/>
            <a:ext cx="10725912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291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StellarGenesis v1.0 • </a:t>
            </a:r>
            <a:r>
              <a:rPr lang="ru-RU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проекта учебной практики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291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 М. • Группа ИСП-43 (ТРПО)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0" y="6291072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Слайд 14 из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00200"/>
            <a:ext cx="10177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2.1 (БЛИЖАЙШИЙ) • АРХИТЕКТУРНАЯ ОПТИМИЗАЦИЯ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Внедрение динамического разделения кода (Code-Splitting) для Three.js через React.lazy(), сокращающего первичный несжатый JS-чанк до 260 КБ;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Вынос тяжелых N-body расчетов в фоновый Web Worker для поддержки симуляций 2000+ тел без микрофризов основного потока UI.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54680"/>
            <a:ext cx="10177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2.2 (СРЕДНЕСРОЧНЫЙ) • WEBGPU ВЫЧИСЛЕНИЯ И 3D ИММЕРСИЯ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3456432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Перевод гравитационного N-body решателя на WebGPU Compute Shaders (увеличение производительности расчетов в 50–100 раз на GPU);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Полноценный 3D-режим свободного полета камеры сквозь аккреционный диск и горизонт событий черной дыры.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9160"/>
            <a:ext cx="10177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ЭТАП 2.3 (ПЕРСПЕКТИВНЫЙ) • ОБРАЗОВАТЕЛЬНАЯ ЭКОСИСТЕМА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5010912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Конструктор интерактивных лабораторных работ для вузов с автоматической генерацией отчетных PDF-документов для студентов;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Экспорт анимаций гравитационных маневров в MP4/GIF высокого разрешения и экспериментальная поддержка WebXR (VR-шлемов).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640080"/>
            <a:ext cx="9994392" cy="5577840"/>
          </a:xfrm>
          <a:prstGeom prst="roundRect">
            <a:avLst>
              <a:gd name="adj" fmla="val 2459"/>
            </a:avLst>
          </a:prstGeom>
          <a:solidFill>
            <a:srgbClr val="11182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0584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ЗАКЛЮЧИТЕЛЬНЫЙ СЛАЙД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41732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240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 StellarGenesis готов к внедрению в образовательный процесс вузов и колледжей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788920"/>
            <a:ext cx="7616952" cy="18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301752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ИСХОДНЫЙ КОД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3520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github.com/bobPingvin/stellargenesis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069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репозиторий, история 4 веток, 11 UML-диаграмм и тесты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54296" y="301752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ДЕМОНСТРАЦИОННАЯ ВЕРСИЯ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7176" y="3520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bobpingvin.github.io/stellargenesis/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37176" y="4069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Мгновенный запуск прямо в веб-браузере в один клик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45552" y="301752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РАЗРАБОТЧИК ПРОЕКТА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28432" y="35204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Журавлёв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ru-RU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Максим</a:t>
            </a: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(ИСП-43)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28432" y="406908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zuravlevm378@gmail.com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Специальность 09.02.07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53035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 ответить на вопросы государственной экзаменационной комиссии!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2705</Words>
  <Application>Microsoft Office PowerPoint</Application>
  <PresentationFormat>Широкоэкранный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Лаборатория вычислительной астрофизики (ИСП-43)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StellarGenesis — Интерактивный симулятор релятивистской астрофизики</dc:title>
  <dc:subject>Защита выпускного проекта производственной практики ПМ.02</dc:subject>
  <dc:creator>Журавлёв М.</dc:creator>
  <cp:lastModifiedBy>bob pingvin</cp:lastModifiedBy>
  <cp:revision>2</cp:revision>
  <dcterms:created xsi:type="dcterms:W3CDTF">2026-10-08T02:24:32Z</dcterms:created>
  <dcterms:modified xsi:type="dcterms:W3CDTF">2026-10-08T02:30:02Z</dcterms:modified>
</cp:coreProperties>
</file>